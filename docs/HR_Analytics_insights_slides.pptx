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8323847-5888-4975-9982-B24D08934F7A}">
          <p14:sldIdLst>
            <p14:sldId id="256"/>
            <p14:sldId id="257"/>
            <p14:sldId id="258"/>
            <p14:sldId id="259"/>
            <p14:sldId id="261"/>
            <p14:sldId id="262"/>
            <p14:sldId id="263"/>
            <p14:sldId id="264"/>
            <p14:sldId id="265"/>
            <p14:sldId id="266"/>
            <p14:sldId id="26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C64C6F-5C5B-4E6B-AAF4-4B896B7D38D2}" type="datetimeFigureOut">
              <a:rPr lang="en-US" smtClean="0"/>
              <a:t>6/29/2025</a:t>
            </a:fld>
            <a:endParaRPr lang="en-US"/>
          </a:p>
        </p:txBody>
      </p:sp>
      <p:sp>
        <p:nvSpPr>
          <p:cNvPr id="5" name="Footer Placeholder 4"/>
          <p:cNvSpPr>
            <a:spLocks noGrp="1"/>
          </p:cNvSpPr>
          <p:nvPr>
            <p:ph type="ftr" sz="quarter" idx="11"/>
          </p:nvPr>
        </p:nvSpPr>
        <p:spPr>
          <a:xfrm>
            <a:off x="1451579" y="329307"/>
            <a:ext cx="5626774" cy="309201"/>
          </a:xfrm>
        </p:spPr>
        <p:txBody>
          <a:bodyPr/>
          <a:lstStyle/>
          <a:p>
            <a:endParaRPr lang="en-US"/>
          </a:p>
        </p:txBody>
      </p:sp>
      <p:sp>
        <p:nvSpPr>
          <p:cNvPr id="6" name="Slide Number Placeholder 5"/>
          <p:cNvSpPr>
            <a:spLocks noGrp="1"/>
          </p:cNvSpPr>
          <p:nvPr>
            <p:ph type="sldNum" sz="quarter" idx="12"/>
          </p:nvPr>
        </p:nvSpPr>
        <p:spPr>
          <a:xfrm>
            <a:off x="476834" y="798973"/>
            <a:ext cx="811019" cy="503578"/>
          </a:xfrm>
        </p:spPr>
        <p:txBody>
          <a:bodyPr/>
          <a:lstStyle/>
          <a:p>
            <a:fld id="{24AFA8F4-BCC1-4E6D-9DDC-23446F80AEF4}" type="slidenum">
              <a:rPr lang="en-US" smtClean="0"/>
              <a:t>‹#›</a:t>
            </a:fld>
            <a:endParaRPr lang="en-US"/>
          </a:p>
        </p:txBody>
      </p:sp>
    </p:spTree>
    <p:extLst>
      <p:ext uri="{BB962C8B-B14F-4D97-AF65-F5344CB8AC3E}">
        <p14:creationId xmlns:p14="http://schemas.microsoft.com/office/powerpoint/2010/main" val="476878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C64C6F-5C5B-4E6B-AAF4-4B896B7D38D2}" type="datetimeFigureOut">
              <a:rPr lang="en-US" smtClean="0"/>
              <a:t>6/29/2025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AFA8F4-BCC1-4E6D-9DDC-23446F80AEF4}" type="slidenum">
              <a:rPr lang="en-US" smtClean="0"/>
              <a:t>‹#›</a:t>
            </a:fld>
            <a:endParaRPr lang="en-US"/>
          </a:p>
        </p:txBody>
      </p:sp>
    </p:spTree>
    <p:extLst>
      <p:ext uri="{BB962C8B-B14F-4D97-AF65-F5344CB8AC3E}">
        <p14:creationId xmlns:p14="http://schemas.microsoft.com/office/powerpoint/2010/main" val="4265045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C64C6F-5C5B-4E6B-AAF4-4B896B7D38D2}" type="datetimeFigureOut">
              <a:rPr lang="en-US" smtClean="0"/>
              <a:t>6/29/2025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AFA8F4-BCC1-4E6D-9DDC-23446F80AEF4}" type="slidenum">
              <a:rPr lang="en-US" smtClean="0"/>
              <a:t>‹#›</a:t>
            </a:fld>
            <a:endParaRPr lang="en-US"/>
          </a:p>
        </p:txBody>
      </p:sp>
    </p:spTree>
    <p:extLst>
      <p:ext uri="{BB962C8B-B14F-4D97-AF65-F5344CB8AC3E}">
        <p14:creationId xmlns:p14="http://schemas.microsoft.com/office/powerpoint/2010/main" val="2909278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C64C6F-5C5B-4E6B-AAF4-4B896B7D38D2}" type="datetimeFigureOut">
              <a:rPr lang="en-US" smtClean="0"/>
              <a:t>6/29/2025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AFA8F4-BCC1-4E6D-9DDC-23446F80AEF4}" type="slidenum">
              <a:rPr lang="en-US" smtClean="0"/>
              <a:t>‹#›</a:t>
            </a:fld>
            <a:endParaRPr lang="en-US"/>
          </a:p>
        </p:txBody>
      </p:sp>
    </p:spTree>
    <p:extLst>
      <p:ext uri="{BB962C8B-B14F-4D97-AF65-F5344CB8AC3E}">
        <p14:creationId xmlns:p14="http://schemas.microsoft.com/office/powerpoint/2010/main" val="4229967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C64C6F-5C5B-4E6B-AAF4-4B896B7D38D2}" type="datetimeFigureOut">
              <a:rPr lang="en-US" smtClean="0"/>
              <a:t>6/29/2025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AFA8F4-BCC1-4E6D-9DDC-23446F80AEF4}" type="slidenum">
              <a:rPr lang="en-US" smtClean="0"/>
              <a:t>‹#›</a:t>
            </a:fld>
            <a:endParaRPr lang="en-US"/>
          </a:p>
        </p:txBody>
      </p:sp>
    </p:spTree>
    <p:extLst>
      <p:ext uri="{BB962C8B-B14F-4D97-AF65-F5344CB8AC3E}">
        <p14:creationId xmlns:p14="http://schemas.microsoft.com/office/powerpoint/2010/main" val="2506898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C64C6F-5C5B-4E6B-AAF4-4B896B7D38D2}" type="datetimeFigureOut">
              <a:rPr lang="en-US" smtClean="0"/>
              <a:t>6/29/2025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AFA8F4-BCC1-4E6D-9DDC-23446F80AEF4}" type="slidenum">
              <a:rPr lang="en-US" smtClean="0"/>
              <a:t>‹#›</a:t>
            </a:fld>
            <a:endParaRPr lang="en-US"/>
          </a:p>
        </p:txBody>
      </p:sp>
    </p:spTree>
    <p:extLst>
      <p:ext uri="{BB962C8B-B14F-4D97-AF65-F5344CB8AC3E}">
        <p14:creationId xmlns:p14="http://schemas.microsoft.com/office/powerpoint/2010/main" val="3971339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C64C6F-5C5B-4E6B-AAF4-4B896B7D38D2}" type="datetimeFigureOut">
              <a:rPr lang="en-US" smtClean="0"/>
              <a:t>6/29/2025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AFA8F4-BCC1-4E6D-9DDC-23446F80AEF4}" type="slidenum">
              <a:rPr lang="en-US" smtClean="0"/>
              <a:t>‹#›</a:t>
            </a:fld>
            <a:endParaRPr lang="en-US"/>
          </a:p>
        </p:txBody>
      </p:sp>
    </p:spTree>
    <p:extLst>
      <p:ext uri="{BB962C8B-B14F-4D97-AF65-F5344CB8AC3E}">
        <p14:creationId xmlns:p14="http://schemas.microsoft.com/office/powerpoint/2010/main" val="597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C64C6F-5C5B-4E6B-AAF4-4B896B7D38D2}" type="datetimeFigureOut">
              <a:rPr lang="en-US" smtClean="0"/>
              <a:t>6/29/2025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AFA8F4-BCC1-4E6D-9DDC-23446F80AEF4}" type="slidenum">
              <a:rPr lang="en-US" smtClean="0"/>
              <a:t>‹#›</a:t>
            </a:fld>
            <a:endParaRPr lang="en-US"/>
          </a:p>
        </p:txBody>
      </p:sp>
    </p:spTree>
    <p:extLst>
      <p:ext uri="{BB962C8B-B14F-4D97-AF65-F5344CB8AC3E}">
        <p14:creationId xmlns:p14="http://schemas.microsoft.com/office/powerpoint/2010/main" val="3330549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FBC64C6F-5C5B-4E6B-AAF4-4B896B7D38D2}" type="datetimeFigureOut">
              <a:rPr lang="en-US" smtClean="0"/>
              <a:t>6/29/2025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24AFA8F4-BCC1-4E6D-9DDC-23446F80AEF4}" type="slidenum">
              <a:rPr lang="en-US" smtClean="0"/>
              <a:t>‹#›</a:t>
            </a:fld>
            <a:endParaRPr lang="en-US"/>
          </a:p>
        </p:txBody>
      </p:sp>
    </p:spTree>
    <p:extLst>
      <p:ext uri="{BB962C8B-B14F-4D97-AF65-F5344CB8AC3E}">
        <p14:creationId xmlns:p14="http://schemas.microsoft.com/office/powerpoint/2010/main" val="4203778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C64C6F-5C5B-4E6B-AAF4-4B896B7D38D2}" type="datetimeFigureOut">
              <a:rPr lang="en-US" smtClean="0"/>
              <a:t>6/29/2025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AFA8F4-BCC1-4E6D-9DDC-23446F80AEF4}" type="slidenum">
              <a:rPr lang="en-US" smtClean="0"/>
              <a:t>‹#›</a:t>
            </a:fld>
            <a:endParaRPr lang="en-US"/>
          </a:p>
        </p:txBody>
      </p:sp>
    </p:spTree>
    <p:extLst>
      <p:ext uri="{BB962C8B-B14F-4D97-AF65-F5344CB8AC3E}">
        <p14:creationId xmlns:p14="http://schemas.microsoft.com/office/powerpoint/2010/main" val="43714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C64C6F-5C5B-4E6B-AAF4-4B896B7D38D2}" type="datetimeFigureOut">
              <a:rPr lang="en-US" smtClean="0"/>
              <a:t>6/29/2025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AFA8F4-BCC1-4E6D-9DDC-23446F80AEF4}" type="slidenum">
              <a:rPr lang="en-US" smtClean="0"/>
              <a:t>‹#›</a:t>
            </a:fld>
            <a:endParaRPr lang="en-US"/>
          </a:p>
        </p:txBody>
      </p:sp>
    </p:spTree>
    <p:extLst>
      <p:ext uri="{BB962C8B-B14F-4D97-AF65-F5344CB8AC3E}">
        <p14:creationId xmlns:p14="http://schemas.microsoft.com/office/powerpoint/2010/main" val="4156737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FBC64C6F-5C5B-4E6B-AAF4-4B896B7D38D2}" type="datetimeFigureOut">
              <a:rPr lang="en-US" smtClean="0"/>
              <a:t>6/29/2025</a:t>
            </a:fld>
            <a:endParaRPr lang="en-US"/>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4AFA8F4-BCC1-4E6D-9DDC-23446F80AEF4}" type="slidenum">
              <a:rPr lang="en-US" smtClean="0"/>
              <a:t>‹#›</a:t>
            </a:fld>
            <a:endParaRPr lang="en-US"/>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2232193"/>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F8454B2E-D2DB-42C2-A224-BCEC47B86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8B61146-1CF0-40E1-B66E-C22BD9207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9593CEB5-DC46-F950-1B72-5F963CA6CEFB}"/>
              </a:ext>
            </a:extLst>
          </p:cNvPr>
          <p:cNvSpPr>
            <a:spLocks noGrp="1"/>
          </p:cNvSpPr>
          <p:nvPr>
            <p:ph type="ctrTitle"/>
          </p:nvPr>
        </p:nvSpPr>
        <p:spPr>
          <a:xfrm>
            <a:off x="1964987" y="802298"/>
            <a:ext cx="9089865" cy="3822329"/>
          </a:xfrm>
        </p:spPr>
        <p:txBody>
          <a:bodyPr anchor="b">
            <a:normAutofit/>
          </a:bodyPr>
          <a:lstStyle/>
          <a:p>
            <a:pPr algn="l"/>
            <a:r>
              <a:rPr lang="en-US">
                <a:latin typeface="Times New Roman" panose="02020603050405020304" pitchFamily="18" charset="0"/>
                <a:cs typeface="Times New Roman" panose="02020603050405020304" pitchFamily="18" charset="0"/>
              </a:rPr>
              <a:t>HUMAN RESOURCES(HR) ANALYTICS PROJECT</a:t>
            </a:r>
          </a:p>
        </p:txBody>
      </p:sp>
      <p:sp>
        <p:nvSpPr>
          <p:cNvPr id="3" name="Subtitle 2">
            <a:extLst>
              <a:ext uri="{FF2B5EF4-FFF2-40B4-BE49-F238E27FC236}">
                <a16:creationId xmlns:a16="http://schemas.microsoft.com/office/drawing/2014/main" id="{90F7917C-10D6-AB4B-ABF7-6D57080C5871}"/>
              </a:ext>
            </a:extLst>
          </p:cNvPr>
          <p:cNvSpPr>
            <a:spLocks noGrp="1"/>
          </p:cNvSpPr>
          <p:nvPr>
            <p:ph type="subTitle" idx="1"/>
          </p:nvPr>
        </p:nvSpPr>
        <p:spPr>
          <a:xfrm>
            <a:off x="1964988" y="4941662"/>
            <a:ext cx="9089864" cy="977621"/>
          </a:xfrm>
        </p:spPr>
        <p:txBody>
          <a:bodyPr>
            <a:normAutofit/>
          </a:bodyPr>
          <a:lstStyle/>
          <a:p>
            <a:pPr algn="l"/>
            <a:r>
              <a:rPr lang="en-US">
                <a:latin typeface="Times New Roman" panose="02020603050405020304" pitchFamily="18" charset="0"/>
                <a:cs typeface="Times New Roman" panose="02020603050405020304" pitchFamily="18" charset="0"/>
              </a:rPr>
              <a:t>Made by Josiane Byukusenge</a:t>
            </a:r>
          </a:p>
          <a:p>
            <a:pPr algn="l"/>
            <a:r>
              <a:rPr lang="en-US">
                <a:latin typeface="Times New Roman" panose="02020603050405020304" pitchFamily="18" charset="0"/>
                <a:cs typeface="Times New Roman" panose="02020603050405020304" pitchFamily="18" charset="0"/>
              </a:rPr>
              <a:t>&amp; Hope</a:t>
            </a:r>
          </a:p>
        </p:txBody>
      </p:sp>
      <p:cxnSp>
        <p:nvCxnSpPr>
          <p:cNvPr id="29" name="Straight Connector 28">
            <a:extLst>
              <a:ext uri="{FF2B5EF4-FFF2-40B4-BE49-F238E27FC236}">
                <a16:creationId xmlns:a16="http://schemas.microsoft.com/office/drawing/2014/main" id="{7AE5065C-30A9-480A-9E93-74CC149029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18211" y="4768183"/>
            <a:ext cx="8401527" cy="0"/>
          </a:xfrm>
          <a:prstGeom prst="line">
            <a:avLst/>
          </a:prstGeom>
          <a:ln w="38100"/>
        </p:spPr>
        <p:style>
          <a:lnRef idx="3">
            <a:schemeClr val="accent1"/>
          </a:lnRef>
          <a:fillRef idx="0">
            <a:schemeClr val="accent1"/>
          </a:fillRef>
          <a:effectRef idx="2">
            <a:schemeClr val="accent1"/>
          </a:effectRef>
          <a:fontRef idx="minor">
            <a:schemeClr val="tx1"/>
          </a:fontRef>
        </p:style>
      </p:cxnSp>
      <p:pic>
        <p:nvPicPr>
          <p:cNvPr id="31" name="Picture 30">
            <a:extLst>
              <a:ext uri="{FF2B5EF4-FFF2-40B4-BE49-F238E27FC236}">
                <a16:creationId xmlns:a16="http://schemas.microsoft.com/office/drawing/2014/main" id="{32F83421-27F5-45DC-A0C2-B4B3592FD8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spTree>
    <p:extLst>
      <p:ext uri="{BB962C8B-B14F-4D97-AF65-F5344CB8AC3E}">
        <p14:creationId xmlns:p14="http://schemas.microsoft.com/office/powerpoint/2010/main" val="1288581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F2264-9A73-8817-F2E3-2AC45F180D26}"/>
              </a:ext>
            </a:extLst>
          </p:cNvPr>
          <p:cNvSpPr>
            <a:spLocks noGrp="1"/>
          </p:cNvSpPr>
          <p:nvPr>
            <p:ph type="title"/>
          </p:nvPr>
        </p:nvSpPr>
        <p:spPr/>
        <p:txBody>
          <a:bodyPr>
            <a:normAutofit/>
          </a:bodyPr>
          <a:lstStyle/>
          <a:p>
            <a:r>
              <a:rPr lang="en-US" sz="2600">
                <a:latin typeface="Times New Roman" panose="02020603050405020304" pitchFamily="18" charset="0"/>
                <a:cs typeface="Times New Roman" panose="02020603050405020304" pitchFamily="18" charset="0"/>
              </a:rPr>
              <a:t>INTRODUCTION ON HUMAN RESOURCES (HR) </a:t>
            </a:r>
            <a:br>
              <a:rPr lang="en-US" sz="2600">
                <a:latin typeface="Times New Roman" panose="02020603050405020304" pitchFamily="18" charset="0"/>
                <a:cs typeface="Times New Roman" panose="02020603050405020304" pitchFamily="18" charset="0"/>
              </a:rPr>
            </a:br>
            <a:r>
              <a:rPr lang="en-US" sz="2600">
                <a:latin typeface="Times New Roman" panose="02020603050405020304" pitchFamily="18" charset="0"/>
                <a:cs typeface="Times New Roman" panose="02020603050405020304" pitchFamily="18" charset="0"/>
              </a:rPr>
              <a:t>               ANALYTICS PROJECT</a:t>
            </a:r>
            <a:endParaRPr lang="en-US" sz="2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521F57-0AB5-3BCD-B235-9A5FF6588792}"/>
              </a:ext>
            </a:extLst>
          </p:cNvPr>
          <p:cNvSpPr>
            <a:spLocks noGrp="1"/>
          </p:cNvSpPr>
          <p:nvPr>
            <p:ph idx="1"/>
          </p:nvPr>
        </p:nvSpPr>
        <p:spPr/>
        <p:txBody>
          <a:bodyPr>
            <a:normAutofit fontScale="25000" lnSpcReduction="20000"/>
          </a:bodyPr>
          <a:lstStyle/>
          <a:p>
            <a:pPr marL="0" indent="0">
              <a:buNone/>
            </a:pPr>
            <a:r>
              <a:rPr lang="en-US" dirty="0"/>
              <a:t> </a:t>
            </a:r>
          </a:p>
          <a:p>
            <a:endParaRPr lang="en-US" dirty="0"/>
          </a:p>
          <a:p>
            <a:r>
              <a:rPr lang="en-US" sz="7200" dirty="0">
                <a:latin typeface="Times New Roman" panose="02020603050405020304" pitchFamily="18" charset="0"/>
                <a:cs typeface="Times New Roman" panose="02020603050405020304" pitchFamily="18" charset="0"/>
              </a:rPr>
              <a:t>This presentation explores employee attrition trends using HR analytics data.  </a:t>
            </a:r>
          </a:p>
          <a:p>
            <a:r>
              <a:rPr lang="en-US" sz="7200" dirty="0">
                <a:latin typeface="Times New Roman" panose="02020603050405020304" pitchFamily="18" charset="0"/>
                <a:cs typeface="Times New Roman" panose="02020603050405020304" pitchFamily="18" charset="0"/>
              </a:rPr>
              <a:t>By applying exploratory data analysis (EDA), statistical testing, and data visualization techniques, we aim to:</a:t>
            </a:r>
          </a:p>
          <a:p>
            <a:r>
              <a:rPr lang="en-US" sz="7200" dirty="0">
                <a:latin typeface="Times New Roman" panose="02020603050405020304" pitchFamily="18" charset="0"/>
                <a:cs typeface="Times New Roman" panose="02020603050405020304" pitchFamily="18" charset="0"/>
              </a:rPr>
              <a:t>- Identify key patterns driving attrition</a:t>
            </a:r>
          </a:p>
          <a:p>
            <a:r>
              <a:rPr lang="en-US" sz="7200" dirty="0">
                <a:latin typeface="Times New Roman" panose="02020603050405020304" pitchFamily="18" charset="0"/>
                <a:cs typeface="Times New Roman" panose="02020603050405020304" pitchFamily="18" charset="0"/>
              </a:rPr>
              <a:t>- Understand which employee groups are most at risk</a:t>
            </a:r>
          </a:p>
          <a:p>
            <a:r>
              <a:rPr lang="en-US" sz="7200" dirty="0">
                <a:latin typeface="Times New Roman" panose="02020603050405020304" pitchFamily="18" charset="0"/>
                <a:cs typeface="Times New Roman" panose="02020603050405020304" pitchFamily="18" charset="0"/>
              </a:rPr>
              <a:t>- Provide actionable recommendations to support data-informed HR decisions</a:t>
            </a:r>
          </a:p>
          <a:p>
            <a:r>
              <a:rPr lang="en-US" sz="7200" dirty="0">
                <a:latin typeface="Times New Roman" panose="02020603050405020304" pitchFamily="18" charset="0"/>
                <a:cs typeface="Times New Roman" panose="02020603050405020304" pitchFamily="18" charset="0"/>
              </a:rPr>
              <a:t>The analysis was conducted using Python libraries such as `pandas`, `</a:t>
            </a:r>
            <a:r>
              <a:rPr lang="en-US" sz="7200" dirty="0" err="1">
                <a:latin typeface="Times New Roman" panose="02020603050405020304" pitchFamily="18" charset="0"/>
                <a:cs typeface="Times New Roman" panose="02020603050405020304" pitchFamily="18" charset="0"/>
              </a:rPr>
              <a:t>plotly</a:t>
            </a:r>
            <a:r>
              <a:rPr lang="en-US" sz="7200" dirty="0">
                <a:latin typeface="Times New Roman" panose="02020603050405020304" pitchFamily="18" charset="0"/>
                <a:cs typeface="Times New Roman" panose="02020603050405020304" pitchFamily="18" charset="0"/>
              </a:rPr>
              <a:t>`, and `</a:t>
            </a:r>
            <a:r>
              <a:rPr lang="en-US" sz="7200" dirty="0" err="1">
                <a:latin typeface="Times New Roman" panose="02020603050405020304" pitchFamily="18" charset="0"/>
                <a:cs typeface="Times New Roman" panose="02020603050405020304" pitchFamily="18" charset="0"/>
              </a:rPr>
              <a:t>scipy.stats</a:t>
            </a:r>
            <a:r>
              <a:rPr lang="en-US" sz="7200" dirty="0">
                <a:latin typeface="Times New Roman" panose="02020603050405020304" pitchFamily="18" charset="0"/>
                <a:cs typeface="Times New Roman" panose="02020603050405020304" pitchFamily="18" charset="0"/>
              </a:rPr>
              <a:t>`, focusing on metrics like job role, age group, department, gender, and overtime.</a:t>
            </a:r>
          </a:p>
          <a:p>
            <a:endParaRPr lang="en-US" dirty="0"/>
          </a:p>
        </p:txBody>
      </p:sp>
    </p:spTree>
    <p:extLst>
      <p:ext uri="{BB962C8B-B14F-4D97-AF65-F5344CB8AC3E}">
        <p14:creationId xmlns:p14="http://schemas.microsoft.com/office/powerpoint/2010/main" val="2082571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9CD10-F9A9-6BA4-3ABA-B4B62D83DB57}"/>
              </a:ext>
            </a:extLst>
          </p:cNvPr>
          <p:cNvSpPr>
            <a:spLocks noGrp="1"/>
          </p:cNvSpPr>
          <p:nvPr>
            <p:ph type="title"/>
          </p:nvPr>
        </p:nvSpPr>
        <p:spPr/>
        <p:txBody>
          <a:bodyPr/>
          <a:lstStyle/>
          <a:p>
            <a:r>
              <a:rPr lang="en-US" dirty="0"/>
              <a:t>HR Analytics  Dataset overview </a:t>
            </a:r>
          </a:p>
        </p:txBody>
      </p:sp>
      <p:sp>
        <p:nvSpPr>
          <p:cNvPr id="3" name="Content Placeholder 2">
            <a:extLst>
              <a:ext uri="{FF2B5EF4-FFF2-40B4-BE49-F238E27FC236}">
                <a16:creationId xmlns:a16="http://schemas.microsoft.com/office/drawing/2014/main" id="{B91B0F0B-2FF4-48BA-F6E5-85804922334A}"/>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We’re working with detailed HR data for 1,470 employees. This includes personal demographics, job characteristics, income, and multiple satisfaction indicators. Most importantly, we can track whether an employee left or stayed. allowing to explore </a:t>
            </a:r>
            <a:r>
              <a:rPr lang="en-US" i="1" dirty="0">
                <a:latin typeface="Times New Roman" panose="02020603050405020304" pitchFamily="18" charset="0"/>
                <a:cs typeface="Times New Roman" panose="02020603050405020304" pitchFamily="18" charset="0"/>
              </a:rPr>
              <a:t>why </a:t>
            </a:r>
            <a:r>
              <a:rPr lang="en-US" dirty="0">
                <a:latin typeface="Times New Roman" panose="02020603050405020304" pitchFamily="18" charset="0"/>
                <a:cs typeface="Times New Roman" panose="02020603050405020304" pitchFamily="18" charset="0"/>
              </a:rPr>
              <a:t>people leave and </a:t>
            </a:r>
            <a:r>
              <a:rPr lang="en-US" i="1" dirty="0">
                <a:latin typeface="Times New Roman" panose="02020603050405020304" pitchFamily="18" charset="0"/>
                <a:cs typeface="Times New Roman" panose="02020603050405020304" pitchFamily="18" charset="0"/>
              </a:rPr>
              <a:t>who</a:t>
            </a:r>
            <a:r>
              <a:rPr lang="en-US" dirty="0">
                <a:latin typeface="Times New Roman" panose="02020603050405020304" pitchFamily="18" charset="0"/>
                <a:cs typeface="Times New Roman" panose="02020603050405020304" pitchFamily="18" charset="0"/>
              </a:rPr>
              <a:t> is most at risk.</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Now, using exploratory data analysis, I identified key areas where attrition risk is highest and what factors might be influencing it. so, allow me  walk you through the most important findings.</a:t>
            </a:r>
          </a:p>
        </p:txBody>
      </p:sp>
    </p:spTree>
    <p:extLst>
      <p:ext uri="{BB962C8B-B14F-4D97-AF65-F5344CB8AC3E}">
        <p14:creationId xmlns:p14="http://schemas.microsoft.com/office/powerpoint/2010/main" val="2931699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3CB43-0C34-87EB-12AB-1DFD257AEF54}"/>
              </a:ext>
            </a:extLst>
          </p:cNvPr>
          <p:cNvSpPr>
            <a:spLocks noGrp="1"/>
          </p:cNvSpPr>
          <p:nvPr>
            <p:ph type="title"/>
          </p:nvPr>
        </p:nvSpPr>
        <p:spPr>
          <a:xfrm>
            <a:off x="1451579" y="1"/>
            <a:ext cx="9291215" cy="981776"/>
          </a:xfrm>
        </p:spPr>
        <p:txBody>
          <a:bodyPr/>
          <a:lstStyle/>
          <a:p>
            <a:r>
              <a:rPr lang="en-US" dirty="0"/>
              <a:t>Visualizing Attrition by Job Role</a:t>
            </a:r>
            <a:br>
              <a:rPr lang="en-US" dirty="0"/>
            </a:br>
            <a:endParaRPr lang="en-US" dirty="0"/>
          </a:p>
        </p:txBody>
      </p:sp>
      <p:pic>
        <p:nvPicPr>
          <p:cNvPr id="5" name="Content Placeholder 4" descr="A graph of a job role&#10;&#10;AI-generated content may be incorrect.">
            <a:extLst>
              <a:ext uri="{FF2B5EF4-FFF2-40B4-BE49-F238E27FC236}">
                <a16:creationId xmlns:a16="http://schemas.microsoft.com/office/drawing/2014/main" id="{7199DCD3-CAA0-3063-25AD-B5A48F2152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77954" y="732140"/>
            <a:ext cx="6719350" cy="3022333"/>
          </a:xfrm>
        </p:spPr>
      </p:pic>
      <p:sp>
        <p:nvSpPr>
          <p:cNvPr id="7" name="TextBox 6">
            <a:extLst>
              <a:ext uri="{FF2B5EF4-FFF2-40B4-BE49-F238E27FC236}">
                <a16:creationId xmlns:a16="http://schemas.microsoft.com/office/drawing/2014/main" id="{AE8B1E02-B5FF-AF1C-8270-65C32C49433D}"/>
              </a:ext>
            </a:extLst>
          </p:cNvPr>
          <p:cNvSpPr txBox="1"/>
          <p:nvPr/>
        </p:nvSpPr>
        <p:spPr>
          <a:xfrm>
            <a:off x="226142" y="3854245"/>
            <a:ext cx="11798710" cy="1938992"/>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analysis shows that Sales Representatives and Laboratory Technicians are leaving the company more often than others, while roles like Research Directors and Manufacturing Directors have very low attrition.</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statistical test confirms this difference is real and significant, not random. However, the strength of the relationship is weak, which means job role alone doesn’t fully explain why people leave, but it’s still an important factor.</a:t>
            </a:r>
          </a:p>
        </p:txBody>
      </p:sp>
    </p:spTree>
    <p:extLst>
      <p:ext uri="{BB962C8B-B14F-4D97-AF65-F5344CB8AC3E}">
        <p14:creationId xmlns:p14="http://schemas.microsoft.com/office/powerpoint/2010/main" val="141099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4B4C2-5943-309F-05BA-5DD1F7A3F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59B75-2615-0045-C218-DB8AED339026}"/>
              </a:ext>
            </a:extLst>
          </p:cNvPr>
          <p:cNvSpPr>
            <a:spLocks noGrp="1"/>
          </p:cNvSpPr>
          <p:nvPr>
            <p:ph type="title"/>
          </p:nvPr>
        </p:nvSpPr>
        <p:spPr>
          <a:xfrm>
            <a:off x="1451579" y="1"/>
            <a:ext cx="9291215" cy="981776"/>
          </a:xfrm>
        </p:spPr>
        <p:txBody>
          <a:bodyPr>
            <a:normAutofit/>
          </a:bodyPr>
          <a:lstStyle/>
          <a:p>
            <a:r>
              <a:rPr lang="en-US" dirty="0"/>
              <a:t>Visualizing Attrition by Age group</a:t>
            </a:r>
            <a:br>
              <a:rPr lang="en-US" dirty="0"/>
            </a:br>
            <a:endParaRPr lang="en-US" dirty="0"/>
          </a:p>
        </p:txBody>
      </p:sp>
      <p:pic>
        <p:nvPicPr>
          <p:cNvPr id="5" name="Content Placeholder 4">
            <a:extLst>
              <a:ext uri="{FF2B5EF4-FFF2-40B4-BE49-F238E27FC236}">
                <a16:creationId xmlns:a16="http://schemas.microsoft.com/office/drawing/2014/main" id="{E7E95CF9-9047-4DB6-C758-4A1024E52C0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877954" y="511278"/>
            <a:ext cx="6719350" cy="3274142"/>
          </a:xfrm>
        </p:spPr>
      </p:pic>
      <p:sp>
        <p:nvSpPr>
          <p:cNvPr id="7" name="TextBox 6">
            <a:extLst>
              <a:ext uri="{FF2B5EF4-FFF2-40B4-BE49-F238E27FC236}">
                <a16:creationId xmlns:a16="http://schemas.microsoft.com/office/drawing/2014/main" id="{CF207478-C4B2-7E8B-40A4-3CE84C5BC88C}"/>
              </a:ext>
            </a:extLst>
          </p:cNvPr>
          <p:cNvSpPr txBox="1"/>
          <p:nvPr/>
        </p:nvSpPr>
        <p:spPr>
          <a:xfrm>
            <a:off x="226142" y="3854245"/>
            <a:ext cx="11798710" cy="2246769"/>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Employees aged 20–29 have the highest attrition rates, while older employees are more likely to stay. Attrition decreases as age increases.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statistical test shows this trend is real, but the link between age and attrition is not very strong.</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suggests that younger staff may be leaving to explore careers, look for better opportunities, or due to job dissatisfaction.</a:t>
            </a:r>
          </a:p>
        </p:txBody>
      </p:sp>
    </p:spTree>
    <p:extLst>
      <p:ext uri="{BB962C8B-B14F-4D97-AF65-F5344CB8AC3E}">
        <p14:creationId xmlns:p14="http://schemas.microsoft.com/office/powerpoint/2010/main" val="2631497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75AFE-14EA-E9C8-5E56-A7D9FF737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101946-044E-DD5F-5899-3D018F2A6110}"/>
              </a:ext>
            </a:extLst>
          </p:cNvPr>
          <p:cNvSpPr>
            <a:spLocks noGrp="1"/>
          </p:cNvSpPr>
          <p:nvPr>
            <p:ph type="title"/>
          </p:nvPr>
        </p:nvSpPr>
        <p:spPr>
          <a:xfrm>
            <a:off x="1451579" y="0"/>
            <a:ext cx="9291215" cy="639097"/>
          </a:xfrm>
        </p:spPr>
        <p:txBody>
          <a:bodyPr>
            <a:normAutofit/>
          </a:bodyPr>
          <a:lstStyle/>
          <a:p>
            <a:r>
              <a:rPr lang="en-US" sz="2800" dirty="0">
                <a:latin typeface="Times New Roman" panose="02020603050405020304" pitchFamily="18" charset="0"/>
                <a:cs typeface="Times New Roman" panose="02020603050405020304" pitchFamily="18" charset="0"/>
              </a:rPr>
              <a:t>Visualizing Attrition by Department</a:t>
            </a:r>
          </a:p>
        </p:txBody>
      </p:sp>
      <p:pic>
        <p:nvPicPr>
          <p:cNvPr id="5" name="Content Placeholder 4">
            <a:extLst>
              <a:ext uri="{FF2B5EF4-FFF2-40B4-BE49-F238E27FC236}">
                <a16:creationId xmlns:a16="http://schemas.microsoft.com/office/drawing/2014/main" id="{C1D93FCE-7827-117F-FE30-861C9E55208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313471" y="639098"/>
            <a:ext cx="6125498" cy="2684206"/>
          </a:xfrm>
        </p:spPr>
      </p:pic>
      <p:sp>
        <p:nvSpPr>
          <p:cNvPr id="7" name="TextBox 6">
            <a:extLst>
              <a:ext uri="{FF2B5EF4-FFF2-40B4-BE49-F238E27FC236}">
                <a16:creationId xmlns:a16="http://schemas.microsoft.com/office/drawing/2014/main" id="{705037D2-B894-B245-1F96-FAB5E27C06F6}"/>
              </a:ext>
            </a:extLst>
          </p:cNvPr>
          <p:cNvSpPr txBox="1"/>
          <p:nvPr/>
        </p:nvSpPr>
        <p:spPr>
          <a:xfrm>
            <a:off x="167148" y="3323305"/>
            <a:ext cx="11857704" cy="255454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pie chart analysis of attrition by department shows that the Sales department accounts for the largest proportion of employee departures, followed by Research &amp; Development, while Human Resources has the lowest share of attrition. This suggests that department-specific factors—such as workload, leadership style, or growth opportunities—may influence employee turnover. The Chi-square test confirms that attrition is significantly associated with department (p-value &lt; 0.05), meaning the differences in attrition across departments are unlikely to be due to chance. However, the strength of this association, measured by Cramér's V, falls into the weak range, implying that while department is a factor in attrition, it is not a strong predictor on its own.</a:t>
            </a:r>
          </a:p>
        </p:txBody>
      </p:sp>
    </p:spTree>
    <p:extLst>
      <p:ext uri="{BB962C8B-B14F-4D97-AF65-F5344CB8AC3E}">
        <p14:creationId xmlns:p14="http://schemas.microsoft.com/office/powerpoint/2010/main" val="3081267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A9067-03AB-7DF6-797F-E6FFDA9B0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EB8212-C403-0197-6DB8-B09B7DF884A9}"/>
              </a:ext>
            </a:extLst>
          </p:cNvPr>
          <p:cNvSpPr>
            <a:spLocks noGrp="1"/>
          </p:cNvSpPr>
          <p:nvPr>
            <p:ph type="title"/>
          </p:nvPr>
        </p:nvSpPr>
        <p:spPr>
          <a:xfrm>
            <a:off x="1451579" y="0"/>
            <a:ext cx="9291215" cy="639097"/>
          </a:xfrm>
        </p:spPr>
        <p:txBody>
          <a:bodyPr>
            <a:normAutofit/>
          </a:bodyPr>
          <a:lstStyle/>
          <a:p>
            <a:r>
              <a:rPr lang="en-US" sz="2400" dirty="0">
                <a:latin typeface="Times New Roman" panose="02020603050405020304" pitchFamily="18" charset="0"/>
                <a:cs typeface="Times New Roman" panose="02020603050405020304" pitchFamily="18" charset="0"/>
              </a:rPr>
              <a:t>Visualizing Gender Distribution in the Company</a:t>
            </a:r>
          </a:p>
        </p:txBody>
      </p:sp>
      <p:pic>
        <p:nvPicPr>
          <p:cNvPr id="5" name="Content Placeholder 4">
            <a:extLst>
              <a:ext uri="{FF2B5EF4-FFF2-40B4-BE49-F238E27FC236}">
                <a16:creationId xmlns:a16="http://schemas.microsoft.com/office/drawing/2014/main" id="{80DF36CA-9557-2729-F115-8D9E660FDB2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628104" y="639097"/>
            <a:ext cx="4178709" cy="2684206"/>
          </a:xfrm>
        </p:spPr>
      </p:pic>
      <p:sp>
        <p:nvSpPr>
          <p:cNvPr id="7" name="TextBox 6">
            <a:extLst>
              <a:ext uri="{FF2B5EF4-FFF2-40B4-BE49-F238E27FC236}">
                <a16:creationId xmlns:a16="http://schemas.microsoft.com/office/drawing/2014/main" id="{F8EB9431-6845-848E-9042-D3C9AD47E9BB}"/>
              </a:ext>
            </a:extLst>
          </p:cNvPr>
          <p:cNvSpPr txBox="1"/>
          <p:nvPr/>
        </p:nvSpPr>
        <p:spPr>
          <a:xfrm>
            <a:off x="167148" y="3323305"/>
            <a:ext cx="11857704" cy="1938992"/>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gender distribution chart shows a relatively balanced workforce, though there may be a slight dominance of one gender depending on the exact values in your dataset. To understand if gender influences employee attrition, a Chi-square test was conducted. The results show that there is no statistically significant association between Gender and Attrition (p-value &gt; 0.05), meaning that attrition does not differ meaningfully between male and female employees. Furthermore, Cramér’s V confirms this with a value indicating a negligible association, reinforcing that gender is not a driving factor in attrition within this organization.</a:t>
            </a:r>
          </a:p>
        </p:txBody>
      </p:sp>
    </p:spTree>
    <p:extLst>
      <p:ext uri="{BB962C8B-B14F-4D97-AF65-F5344CB8AC3E}">
        <p14:creationId xmlns:p14="http://schemas.microsoft.com/office/powerpoint/2010/main" val="1866935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B1294-3165-5370-222E-E9909FF27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585D9-0E59-92C0-76F9-A29D081A488C}"/>
              </a:ext>
            </a:extLst>
          </p:cNvPr>
          <p:cNvSpPr>
            <a:spLocks noGrp="1"/>
          </p:cNvSpPr>
          <p:nvPr>
            <p:ph type="title"/>
          </p:nvPr>
        </p:nvSpPr>
        <p:spPr>
          <a:xfrm>
            <a:off x="1451579" y="0"/>
            <a:ext cx="9291215" cy="639097"/>
          </a:xfrm>
        </p:spPr>
        <p:txBody>
          <a:bodyPr>
            <a:normAutofit/>
          </a:bodyPr>
          <a:lstStyle/>
          <a:p>
            <a:r>
              <a:rPr lang="en-US" sz="2400">
                <a:latin typeface="Times New Roman" panose="02020603050405020304" pitchFamily="18" charset="0"/>
                <a:cs typeface="Times New Roman" panose="02020603050405020304" pitchFamily="18" charset="0"/>
              </a:rPr>
              <a:t>Average Performance Rating by OverTime Status</a:t>
            </a:r>
            <a:endParaRPr lang="en-US" sz="24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EAE42BCE-2654-95B8-DE75-D0BD7864CA6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628104" y="639097"/>
            <a:ext cx="4178709" cy="2684206"/>
          </a:xfrm>
        </p:spPr>
      </p:pic>
      <p:sp>
        <p:nvSpPr>
          <p:cNvPr id="7" name="TextBox 6">
            <a:extLst>
              <a:ext uri="{FF2B5EF4-FFF2-40B4-BE49-F238E27FC236}">
                <a16:creationId xmlns:a16="http://schemas.microsoft.com/office/drawing/2014/main" id="{1DDA9DF6-A179-2BCE-353C-8DC0CD358F25}"/>
              </a:ext>
            </a:extLst>
          </p:cNvPr>
          <p:cNvSpPr txBox="1"/>
          <p:nvPr/>
        </p:nvSpPr>
        <p:spPr>
          <a:xfrm>
            <a:off x="167148" y="3323305"/>
            <a:ext cx="11857704" cy="1938992"/>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analysis of average performance ratings by overtime status reveals minimal visual differences between employees who work overtime and those who don’t. This observation is supported by the independent t-test, which shows no statistically significant difference in performance ratings between the two groups (p-value &gt; 0.05). Additionally, the effect size (Cohen’s d) is small or negligible, indicating that even if a difference exists, it is practically insignificant. In other words, working overtime does not appear to impact performance ratings in a meaningful way.</a:t>
            </a:r>
          </a:p>
        </p:txBody>
      </p:sp>
    </p:spTree>
    <p:extLst>
      <p:ext uri="{BB962C8B-B14F-4D97-AF65-F5344CB8AC3E}">
        <p14:creationId xmlns:p14="http://schemas.microsoft.com/office/powerpoint/2010/main" val="490944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0E8BC-A378-CBBA-6D7F-529D26D407A2}"/>
              </a:ext>
            </a:extLst>
          </p:cNvPr>
          <p:cNvSpPr>
            <a:spLocks noGrp="1"/>
          </p:cNvSpPr>
          <p:nvPr>
            <p:ph type="title"/>
          </p:nvPr>
        </p:nvSpPr>
        <p:spPr>
          <a:xfrm>
            <a:off x="1451579" y="119744"/>
            <a:ext cx="9291215" cy="674914"/>
          </a:xfrm>
        </p:spPr>
        <p:txBody>
          <a:bodyPr>
            <a:normAutofit/>
          </a:bodyPr>
          <a:lstStyle/>
          <a:p>
            <a:r>
              <a:rPr lang="en-US" dirty="0" err="1">
                <a:latin typeface="Times New Roman" panose="02020603050405020304" pitchFamily="18" charset="0"/>
                <a:cs typeface="Times New Roman" panose="02020603050405020304" pitchFamily="18" charset="0"/>
              </a:rPr>
              <a:t>Recommnendations</a:t>
            </a:r>
            <a:r>
              <a:rPr lang="en-US" dirty="0">
                <a:latin typeface="Times New Roman" panose="02020603050405020304" pitchFamily="18" charset="0"/>
                <a:cs typeface="Times New Roman" panose="02020603050405020304" pitchFamily="18" charset="0"/>
              </a:rPr>
              <a:t> on each visual</a:t>
            </a:r>
          </a:p>
        </p:txBody>
      </p:sp>
      <p:sp>
        <p:nvSpPr>
          <p:cNvPr id="3" name="Content Placeholder 2">
            <a:extLst>
              <a:ext uri="{FF2B5EF4-FFF2-40B4-BE49-F238E27FC236}">
                <a16:creationId xmlns:a16="http://schemas.microsoft.com/office/drawing/2014/main" id="{59EA5645-B31B-7EA2-0071-40E66B2E16EC}"/>
              </a:ext>
            </a:extLst>
          </p:cNvPr>
          <p:cNvSpPr>
            <a:spLocks noGrp="1"/>
          </p:cNvSpPr>
          <p:nvPr>
            <p:ph idx="1"/>
          </p:nvPr>
        </p:nvSpPr>
        <p:spPr>
          <a:xfrm>
            <a:off x="185057" y="957944"/>
            <a:ext cx="11832772" cy="4508402"/>
          </a:xfrm>
        </p:spPr>
        <p:txBody>
          <a:bodyPr>
            <a:normAutofit fontScale="92500" lnSpcReduction="20000"/>
          </a:bodyPr>
          <a:lstStyle/>
          <a:p>
            <a:pPr marL="457200" indent="-457200">
              <a:buFont typeface="+mj-lt"/>
              <a:buAutoNum type="arabicPeriod"/>
            </a:pPr>
            <a:r>
              <a:rPr lang="en-US" u="sng" dirty="0">
                <a:latin typeface="Times New Roman" panose="02020603050405020304" pitchFamily="18" charset="0"/>
                <a:cs typeface="Times New Roman" panose="02020603050405020304" pitchFamily="18" charset="0"/>
              </a:rPr>
              <a:t>Attrition by Job role</a:t>
            </a:r>
            <a:r>
              <a:rPr lang="en-US" dirty="0">
                <a:latin typeface="Times New Roman" panose="02020603050405020304" pitchFamily="18" charset="0"/>
                <a:cs typeface="Times New Roman" panose="02020603050405020304" pitchFamily="18" charset="0"/>
              </a:rPr>
              <a:t>: Focus on reducing employee's attrition in roles like sales representatives and Laboratory Technicians, where attrition is high by understanding why people are leaving like are they satisfied, how their worklife balance and compensation like monthly income for them are enough? After that take action based on those findings use targeted solutions like training, flexible hours and bonuses tailored to that role.</a:t>
            </a:r>
          </a:p>
          <a:p>
            <a:pPr marL="457200" indent="-457200">
              <a:buFont typeface="+mj-lt"/>
              <a:buAutoNum type="arabicPeriod"/>
            </a:pPr>
            <a:endParaRPr lang="en-US"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u="sng" dirty="0">
                <a:latin typeface="Times New Roman" panose="02020603050405020304" pitchFamily="18" charset="0"/>
                <a:cs typeface="Times New Roman" panose="02020603050405020304" pitchFamily="18" charset="0"/>
              </a:rPr>
              <a:t>Attrition by Age group</a:t>
            </a:r>
            <a:r>
              <a:rPr lang="en-US" dirty="0">
                <a:latin typeface="Times New Roman" panose="02020603050405020304" pitchFamily="18" charset="0"/>
                <a:cs typeface="Times New Roman" panose="02020603050405020304" pitchFamily="18" charset="0"/>
              </a:rPr>
              <a:t>: Since we found younger employees Are more likely to leave, I recommend them to design retention strategies specifically for them like flexible work options, Accelerated development paths. These help address the needs and expectations of younger employees making them more likely to stay.</a:t>
            </a:r>
          </a:p>
          <a:p>
            <a:pPr marL="457200" indent="-457200">
              <a:buFont typeface="+mj-lt"/>
              <a:buAutoNum type="arabicPeriod"/>
            </a:pPr>
            <a:endParaRPr lang="en-US"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u="sng" dirty="0">
                <a:latin typeface="Times New Roman" panose="02020603050405020304" pitchFamily="18" charset="0"/>
                <a:cs typeface="Times New Roman" panose="02020603050405020304" pitchFamily="18" charset="0"/>
              </a:rPr>
              <a:t>Attrition by Department</a:t>
            </a:r>
            <a:r>
              <a:rPr lang="en-US" dirty="0">
                <a:latin typeface="Times New Roman" panose="02020603050405020304" pitchFamily="18" charset="0"/>
                <a:cs typeface="Times New Roman" panose="02020603050405020304" pitchFamily="18" charset="0"/>
              </a:rPr>
              <a:t>: Investigate the sales department more deeply to understand why people are leaving , this can be done by using tools like surveys, exit interviews or  their monthly rates and these steps can help to uncover the real reason behind that after those it would be helpful to create tailored strategies to keep employees such as offering leadership support, performance rewards.</a:t>
            </a:r>
          </a:p>
        </p:txBody>
      </p:sp>
    </p:spTree>
    <p:extLst>
      <p:ext uri="{BB962C8B-B14F-4D97-AF65-F5344CB8AC3E}">
        <p14:creationId xmlns:p14="http://schemas.microsoft.com/office/powerpoint/2010/main" val="3836074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27E9-A007-6986-0EEA-DE90B409C1EF}"/>
              </a:ext>
            </a:extLst>
          </p:cNvPr>
          <p:cNvSpPr>
            <a:spLocks noGrp="1"/>
          </p:cNvSpPr>
          <p:nvPr>
            <p:ph type="title"/>
          </p:nvPr>
        </p:nvSpPr>
        <p:spPr>
          <a:xfrm>
            <a:off x="1451579" y="98324"/>
            <a:ext cx="9291215" cy="855406"/>
          </a:xfrm>
        </p:spPr>
        <p:txBody>
          <a:bodyPr>
            <a:normAutofit/>
          </a:bodyPr>
          <a:lstStyle/>
          <a:p>
            <a:r>
              <a:rPr lang="en-US" dirty="0">
                <a:latin typeface="Times New Roman" panose="02020603050405020304" pitchFamily="18" charset="0"/>
                <a:cs typeface="Times New Roman" panose="02020603050405020304" pitchFamily="18" charset="0"/>
              </a:rPr>
              <a:t>Recommendations</a:t>
            </a:r>
          </a:p>
        </p:txBody>
      </p:sp>
      <p:sp>
        <p:nvSpPr>
          <p:cNvPr id="3" name="Content Placeholder 2">
            <a:extLst>
              <a:ext uri="{FF2B5EF4-FFF2-40B4-BE49-F238E27FC236}">
                <a16:creationId xmlns:a16="http://schemas.microsoft.com/office/drawing/2014/main" id="{2BDFD2EE-1949-7386-C7F1-AAB5FFA41164}"/>
              </a:ext>
            </a:extLst>
          </p:cNvPr>
          <p:cNvSpPr>
            <a:spLocks noGrp="1"/>
          </p:cNvSpPr>
          <p:nvPr>
            <p:ph idx="1"/>
          </p:nvPr>
        </p:nvSpPr>
        <p:spPr>
          <a:xfrm>
            <a:off x="176981" y="757084"/>
            <a:ext cx="11857703" cy="5083276"/>
          </a:xfrm>
        </p:spPr>
        <p:txBody>
          <a:bodyPr/>
          <a:lstStyle/>
          <a:p>
            <a:pPr marL="457200" indent="-457200">
              <a:buAutoNum type="arabicPeriod" startAt="4"/>
            </a:pPr>
            <a:r>
              <a:rPr lang="en-US" u="sng" dirty="0">
                <a:latin typeface="Times New Roman" panose="02020603050405020304" pitchFamily="18" charset="0"/>
                <a:cs typeface="Times New Roman" panose="02020603050405020304" pitchFamily="18" charset="0"/>
              </a:rPr>
              <a:t>Gender distribution</a:t>
            </a:r>
            <a:r>
              <a:rPr lang="en-US" dirty="0">
                <a:latin typeface="Times New Roman" panose="02020603050405020304" pitchFamily="18" charset="0"/>
                <a:cs typeface="Times New Roman" panose="02020603050405020304" pitchFamily="18" charset="0"/>
              </a:rPr>
              <a:t>: Gender doesn’t significantly affect attrition, so efforts to reduce turnover should focus else where like Job role and age group but keep monitoring gender equity in different areas like in how they are both paying if they are equally and if they promote them equally.</a:t>
            </a:r>
          </a:p>
          <a:p>
            <a:pPr marL="457200" indent="-457200">
              <a:buAutoNum type="arabicPeriod" startAt="4"/>
            </a:pPr>
            <a:r>
              <a:rPr lang="en-US" u="sng" dirty="0">
                <a:latin typeface="Times New Roman" panose="02020603050405020304" pitchFamily="18" charset="0"/>
                <a:cs typeface="Times New Roman" panose="02020603050405020304" pitchFamily="18" charset="0"/>
              </a:rPr>
              <a:t>Performance rating by overtime</a:t>
            </a:r>
            <a:r>
              <a:rPr lang="en-US" dirty="0">
                <a:latin typeface="Times New Roman" panose="02020603050405020304" pitchFamily="18" charset="0"/>
                <a:cs typeface="Times New Roman" panose="02020603050405020304" pitchFamily="18" charset="0"/>
              </a:rPr>
              <a:t>: Working more hour doesn’t always mean better performance, so manage and reward people based on their results and growth.</a:t>
            </a:r>
          </a:p>
          <a:p>
            <a:pPr marL="457200" indent="-457200">
              <a:buAutoNum type="arabicPeriod" startAt="4"/>
            </a:pPr>
            <a:endParaRPr lang="en-US" dirty="0">
              <a:latin typeface="Times New Roman" panose="02020603050405020304" pitchFamily="18" charset="0"/>
              <a:cs typeface="Times New Roman" panose="02020603050405020304" pitchFamily="18" charset="0"/>
            </a:endParaRPr>
          </a:p>
          <a:p>
            <a:pPr marL="0" indent="0" algn="ctr">
              <a:buNone/>
            </a:pPr>
            <a:r>
              <a:rPr lang="en-US" b="1" u="sng" dirty="0">
                <a:solidFill>
                  <a:schemeClr val="accent1"/>
                </a:solidFill>
                <a:latin typeface="Times New Roman" panose="02020603050405020304" pitchFamily="18" charset="0"/>
                <a:cs typeface="Times New Roman" panose="02020603050405020304" pitchFamily="18" charset="0"/>
              </a:rPr>
              <a:t>OVERALL</a:t>
            </a:r>
          </a:p>
          <a:p>
            <a:pPr>
              <a:buFont typeface="Wingdings" panose="05000000000000000000" pitchFamily="2" charset="2"/>
              <a:buChar char="ü"/>
            </a:pPr>
            <a:r>
              <a:rPr lang="en-US" dirty="0"/>
              <a:t> </a:t>
            </a:r>
            <a:r>
              <a:rPr lang="en-US" dirty="0">
                <a:latin typeface="Times New Roman" panose="02020603050405020304" pitchFamily="18" charset="0"/>
                <a:cs typeface="Times New Roman" panose="02020603050405020304" pitchFamily="18" charset="0"/>
              </a:rPr>
              <a:t>I used to identify where employee's attrition is worst mostly among younger staff, people in sales, and some departments. Rather than trying to fix everything everywhere, I recommend focusing on those specific high-risk groups. At the same time, I suggest improving how they measure employee's performance and manage overtime, so that people stay productive without burning out.</a:t>
            </a:r>
            <a:endParaRPr lang="en-US" b="1" u="sng"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5289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DDC5213-763F-3BF5-D13A-F7A632A75475}"/>
              </a:ext>
            </a:extLst>
          </p:cNvPr>
          <p:cNvSpPr/>
          <p:nvPr/>
        </p:nvSpPr>
        <p:spPr>
          <a:xfrm>
            <a:off x="707923" y="511277"/>
            <a:ext cx="9940412" cy="480797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200" dirty="0">
                <a:latin typeface="Times New Roman" panose="02020603050405020304" pitchFamily="18" charset="0"/>
                <a:cs typeface="Times New Roman" panose="02020603050405020304" pitchFamily="18" charset="0"/>
              </a:rPr>
              <a:t>THANK YOU ALL FOR YOUR ATTENTION </a:t>
            </a:r>
          </a:p>
          <a:p>
            <a:pPr algn="ctr"/>
            <a:r>
              <a:rPr lang="en-US" sz="3200" dirty="0">
                <a:latin typeface="Times New Roman" panose="02020603050405020304" pitchFamily="18" charset="0"/>
                <a:cs typeface="Times New Roman" panose="02020603050405020304" pitchFamily="18" charset="0"/>
              </a:rPr>
              <a:t>&amp;</a:t>
            </a:r>
          </a:p>
          <a:p>
            <a:pPr algn="ctr"/>
            <a:r>
              <a:rPr lang="en-US" sz="3200" dirty="0">
                <a:latin typeface="Times New Roman" panose="02020603050405020304" pitchFamily="18" charset="0"/>
                <a:cs typeface="Times New Roman" panose="02020603050405020304" pitchFamily="18" charset="0"/>
              </a:rPr>
              <a:t>LORD BLESS YOU!!!!</a:t>
            </a:r>
          </a:p>
        </p:txBody>
      </p:sp>
    </p:spTree>
    <p:extLst>
      <p:ext uri="{BB962C8B-B14F-4D97-AF65-F5344CB8AC3E}">
        <p14:creationId xmlns:p14="http://schemas.microsoft.com/office/powerpoint/2010/main" val="44821803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Gallery</Template>
  <TotalTime>165</TotalTime>
  <Words>1056</Words>
  <Application>Microsoft Office PowerPoint</Application>
  <PresentationFormat>Widescreen</PresentationFormat>
  <Paragraphs>47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Rockwell</vt:lpstr>
      <vt:lpstr>Times New Roman</vt:lpstr>
      <vt:lpstr>Wingdings</vt:lpstr>
      <vt:lpstr>Gallery</vt:lpstr>
      <vt:lpstr>HUMAN RESOURCES(HR) ANALYTICS PROJECT</vt:lpstr>
      <vt:lpstr>INTRODUCTION ON HUMAN RESOURCES (HR)                 ANALYTICS PROJECT</vt:lpstr>
      <vt:lpstr>HR Analytics  Dataset overview </vt:lpstr>
      <vt:lpstr>Visualizing Attrition by Job Role </vt:lpstr>
      <vt:lpstr>Visualizing Attrition by Age group </vt:lpstr>
      <vt:lpstr>Visualizing Attrition by Department</vt:lpstr>
      <vt:lpstr>Visualizing Gender Distribution in the Company</vt:lpstr>
      <vt:lpstr>Average Performance Rating by OverTime Status</vt:lpstr>
      <vt:lpstr>Recommnendations on each visual</vt:lpstr>
      <vt:lpstr>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IRADUKUNDA ELIE</dc:creator>
  <cp:lastModifiedBy>IRADUKUNDA ELIE</cp:lastModifiedBy>
  <cp:revision>9</cp:revision>
  <dcterms:created xsi:type="dcterms:W3CDTF">2025-06-29T00:09:41Z</dcterms:created>
  <dcterms:modified xsi:type="dcterms:W3CDTF">2025-06-29T02:55:36Z</dcterms:modified>
</cp:coreProperties>
</file>